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2  ·  Bootcamp AI Engineer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Tokens, Contexto,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y Latencia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rompe (o salva) productos de IA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Ramsés Camas  ·  Director del Bootcamp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097280"/>
            <a:ext cx="548640" cy="54864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645920"/>
            <a:ext cx="548640" cy="54864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2377440"/>
            <a:ext cx="548640" cy="54864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2926080"/>
            <a:ext cx="457200" cy="457200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7C4DF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Clase 1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36576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128016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1A174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60020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54480" y="1463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productivo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554480" y="18745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pyproject.toml, .env, estructura limpia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663440" y="128016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1A1745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600200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0" y="1463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Client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5486400" y="18745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core/llm_client.py con Gemini configurado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731520" y="292608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1A1745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246120"/>
            <a:ext cx="411480" cy="411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554480" y="3108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base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1554480" y="3520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core/logger.py para trazabilidad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4663440" y="292608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1A1745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246120"/>
            <a:ext cx="411480" cy="4114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486400" y="3108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llamada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5486400" y="3520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CLI/endpoint que llama al LLM con logs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457200" y="4754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AI Engineer  |  Código Facilito  |  Clase 2</a:t>
            </a:r>
            <a:endParaRPr lang="en-US" sz="800" dirty="0"/>
          </a:p>
        </p:txBody>
      </p:sp>
      <p:sp>
        <p:nvSpPr>
          <p:cNvPr id="22" name="Text 15"/>
          <p:cNvSpPr/>
          <p:nvPr/>
        </p:nvSpPr>
        <p:spPr>
          <a:xfrm>
            <a:off x="8229600" y="47548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 la Clase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32004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128016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1A1745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463040" y="12801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qué son los tokens y cómo impactan cada request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31520" y="196596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1A1745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463040" y="19659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 la ventana de contexto y sus limitaciones reales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31520" y="265176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1A1745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463040" y="26517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el costo real de cada feature que usa LLMs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31520" y="333756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1A1745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463040" y="33375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y controlar la latencia (TTFT y throughput)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31520" y="402336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1A1745"/>
          </a:solidFill>
          <a:ln/>
        </p:spPr>
      </p:sp>
      <p:sp>
        <p:nvSpPr>
          <p:cNvPr id="18" name="Text 15"/>
          <p:cNvSpPr/>
          <p:nvPr/>
        </p:nvSpPr>
        <p:spPr>
          <a:xfrm>
            <a:off x="91440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463040" y="40233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tokenlab.py: tu herramienta de medición y budget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57200" y="4754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AI Engineer  |  Código Facilito  |  Clase 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8229600" y="47548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Contenido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1A1745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17320"/>
            <a:ext cx="54864" cy="11887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17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/01</a:t>
            </a:r>
            <a:endParaRPr lang="en-US" sz="2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14630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828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05840" y="2194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son, cómo funcionan, ventana de contexto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280160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1A1745"/>
          </a:solidFill>
          <a:ln/>
        </p:spPr>
      </p:sp>
      <p:sp>
        <p:nvSpPr>
          <p:cNvPr id="11" name="Shape 8"/>
          <p:cNvSpPr/>
          <p:nvPr/>
        </p:nvSpPr>
        <p:spPr>
          <a:xfrm>
            <a:off x="4663440" y="1417320"/>
            <a:ext cx="54864" cy="118872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12" name="Text 9"/>
          <p:cNvSpPr/>
          <p:nvPr/>
        </p:nvSpPr>
        <p:spPr>
          <a:xfrm>
            <a:off x="4937760" y="1417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/02</a:t>
            </a:r>
            <a:endParaRPr lang="en-US" sz="28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46304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937760" y="1828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937760" y="2194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por token, budget por feature, escalamiento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31520" y="3017520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1A1745"/>
          </a:solidFill>
          <a:ln/>
        </p:spPr>
      </p:sp>
      <p:sp>
        <p:nvSpPr>
          <p:cNvPr id="17" name="Shape 13"/>
          <p:cNvSpPr/>
          <p:nvPr/>
        </p:nvSpPr>
        <p:spPr>
          <a:xfrm>
            <a:off x="731520" y="3154680"/>
            <a:ext cx="54864" cy="1188720"/>
          </a:xfrm>
          <a:prstGeom prst="rect">
            <a:avLst/>
          </a:prstGeom>
          <a:solidFill>
            <a:srgbClr val="FF4081"/>
          </a:solidFill>
          <a:ln/>
        </p:spPr>
      </p:sp>
      <p:sp>
        <p:nvSpPr>
          <p:cNvPr id="18" name="Text 14"/>
          <p:cNvSpPr/>
          <p:nvPr/>
        </p:nvSpPr>
        <p:spPr>
          <a:xfrm>
            <a:off x="1005840" y="3154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/03</a:t>
            </a:r>
            <a:endParaRPr lang="en-US" sz="28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320040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05840" y="3566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005840" y="3931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TTFT, throughput, streaming, impacto en UX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663440" y="3017520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1A1745"/>
          </a:solidFill>
          <a:ln/>
        </p:spPr>
      </p:sp>
      <p:sp>
        <p:nvSpPr>
          <p:cNvPr id="23" name="Shape 18"/>
          <p:cNvSpPr/>
          <p:nvPr/>
        </p:nvSpPr>
        <p:spPr>
          <a:xfrm>
            <a:off x="4663440" y="3154680"/>
            <a:ext cx="54864" cy="1188720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24" name="Text 19"/>
          <p:cNvSpPr/>
          <p:nvPr/>
        </p:nvSpPr>
        <p:spPr>
          <a:xfrm>
            <a:off x="4937760" y="3154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/04</a:t>
            </a:r>
            <a:endParaRPr lang="en-US" sz="28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3200400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937760" y="3566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Variación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4937760" y="3931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top-p, determinismo en producción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457200" y="4754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AI Engineer  |  Código Facilito  |  Clase 2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8229600" y="47548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0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/01</a:t>
            </a:r>
            <a:endParaRPr lang="en-US" sz="7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7315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286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731520" y="33832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unidad fundamental de los LLMs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31520" y="4206240"/>
            <a:ext cx="2286000" cy="36576"/>
          </a:xfrm>
          <a:prstGeom prst="rect">
            <a:avLst/>
          </a:prstGeom>
          <a:solidFill>
            <a:srgbClr val="00E5FF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Token?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3200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18872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token es la unidad mínima de texto que un LLM puede procesar. No es una palabra, no es un carácter: es un fragmento que el modelo aprendió a reconocer durante su entrenamiento.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31520" y="2743200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1A1745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743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caracteres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651760" y="2743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token en inglés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1520" y="3429000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1A1745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3429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caracteres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651760" y="3429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token en español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31520" y="4114800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1A1745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4114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~0.75 palabras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651760" y="4114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token (promedio)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303520" y="1188720"/>
            <a:ext cx="3474720" cy="3200400"/>
          </a:xfrm>
          <a:prstGeom prst="roundRect">
            <a:avLst>
              <a:gd name="adj" fmla="val 2857"/>
            </a:avLst>
          </a:prstGeom>
          <a:solidFill>
            <a:srgbClr val="0A0825"/>
          </a:solidFill>
          <a:ln/>
        </p:spPr>
      </p:sp>
      <p:sp>
        <p:nvSpPr>
          <p:cNvPr id="16" name="Text 13"/>
          <p:cNvSpPr/>
          <p:nvPr/>
        </p:nvSpPr>
        <p:spPr>
          <a:xfrm>
            <a:off x="5577840" y="1325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tokenización: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577840" y="173736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"Inteligencia artificial"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["Int","elig","encia",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"art","ificial"]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5 tokens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"AI is cool"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["AI"," is"," cool"]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3 tokens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4754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AI Engineer  |  Código Facilito  |  Clase 2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229600" y="47548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idioma importa: español es más caro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3200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tokenizadores están optimizados para inglés. El mismo mensaje en español genera más tokens = más costo y más latencia.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7680960" cy="2286000"/>
        </p:xfrm>
        <a:graphic>
          <a:graphicData uri="http://schemas.openxmlformats.org/drawingml/2006/table">
            <a:tbl>
              <a:tblPr/>
              <a:tblGrid>
                <a:gridCol w="3200400"/>
                <a:gridCol w="1371600"/>
                <a:gridCol w="1097280"/>
                <a:gridCol w="1097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Texto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4D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Idioma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4D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Tokens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4D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Ratio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4D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"Hello, how are you?"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E5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Inglés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9FF1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0B3C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1x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"Hola, ¿cómo estás?"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D6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Español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40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40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1.5x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"Describe this image"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E5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Inglés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9FF1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0B3C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1x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"Describe esta imagen"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D6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Español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40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40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1.5x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F3A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31520" y="4114800"/>
            <a:ext cx="7680960" cy="502920"/>
          </a:xfrm>
          <a:prstGeom prst="roundRect">
            <a:avLst>
              <a:gd name="adj" fmla="val 10909"/>
            </a:avLst>
          </a:prstGeom>
          <a:solidFill>
            <a:srgbClr val="1A0E3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142232"/>
            <a:ext cx="320040" cy="3200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71600" y="41148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Siempre mide tokens en TU idioma. Las estimaciones en inglés subestiman el costo real.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457200" y="4754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AI Engineer  |  Código Facilito  |  Clase 2</a:t>
            </a:r>
            <a:endParaRPr lang="en-US" sz="800" dirty="0"/>
          </a:p>
        </p:txBody>
      </p:sp>
      <p:sp>
        <p:nvSpPr>
          <p:cNvPr id="11" name="Text 6"/>
          <p:cNvSpPr/>
          <p:nvPr/>
        </p:nvSpPr>
        <p:spPr>
          <a:xfrm>
            <a:off x="8229600" y="47548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de Contexto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3200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ventana de contexto es el límite total de tokens que un modelo puede manejar en una sola llamada: input + output combinados.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31520" y="2011680"/>
            <a:ext cx="7680960" cy="731520"/>
          </a:xfrm>
          <a:prstGeom prst="roundRect">
            <a:avLst>
              <a:gd name="adj" fmla="val 10000"/>
            </a:avLst>
          </a:prstGeom>
          <a:solidFill>
            <a:srgbClr val="1A1745"/>
          </a:solidFill>
          <a:ln/>
        </p:spPr>
      </p:sp>
      <p:sp>
        <p:nvSpPr>
          <p:cNvPr id="7" name="Shape 4"/>
          <p:cNvSpPr/>
          <p:nvPr/>
        </p:nvSpPr>
        <p:spPr>
          <a:xfrm>
            <a:off x="777240" y="2057400"/>
            <a:ext cx="5029200" cy="640080"/>
          </a:xfrm>
          <a:prstGeom prst="rect">
            <a:avLst/>
          </a:prstGeom>
          <a:solidFill>
            <a:srgbClr val="1A3A6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0574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Tokens (system + user + historial)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852160" y="2057400"/>
            <a:ext cx="2468880" cy="640080"/>
          </a:xfrm>
          <a:prstGeom prst="rect">
            <a:avLst/>
          </a:prstGeom>
          <a:solidFill>
            <a:srgbClr val="3A1A5A"/>
          </a:solidFill>
          <a:ln/>
        </p:spPr>
      </p:sp>
      <p:sp>
        <p:nvSpPr>
          <p:cNvPr id="10" name="Text 7"/>
          <p:cNvSpPr/>
          <p:nvPr/>
        </p:nvSpPr>
        <p:spPr>
          <a:xfrm>
            <a:off x="5852160" y="20574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Tokens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consume la ventana?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14400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(instrucciones fijas)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14400" y="3721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conversación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14400" y="40142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RAG (documentos recuperados)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14400" y="43068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mensaje del usuario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14400" y="45994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respuesta generada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303520" y="301752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1A1745"/>
          </a:solidFill>
          <a:ln/>
        </p:spPr>
      </p:sp>
      <p:sp>
        <p:nvSpPr>
          <p:cNvPr id="18" name="Text 15"/>
          <p:cNvSpPr/>
          <p:nvPr/>
        </p:nvSpPr>
        <p:spPr>
          <a:xfrm>
            <a:off x="5577840" y="3154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contexto =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577840" y="34747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costo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latencia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espacio para output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Posible degradación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57200" y="4754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AI Engineer  |  Código Facilito  |  Clase 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8229600" y="47548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de Contexto por Modelo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320040"/>
            <a:ext cx="502920" cy="502920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1645920"/>
                <a:gridCol w="19202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4D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4D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4D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Equivalencia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4D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2.0 Flash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9FF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1M tokens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8,192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0B3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 novelas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 3 27B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D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128K tokens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8,192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0B3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novela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0B3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0B3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128K tokens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16,384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0B3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novela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0B3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Sonnet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0B3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200K tokens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0B3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~1.5 novelas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F3A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731520" y="3749040"/>
            <a:ext cx="7680960" cy="914400"/>
          </a:xfrm>
          <a:prstGeom prst="roundRect">
            <a:avLst>
              <a:gd name="adj" fmla="val 8000"/>
            </a:avLst>
          </a:prstGeom>
          <a:solidFill>
            <a:srgbClr val="1A1745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931920"/>
            <a:ext cx="365760" cy="3657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554480" y="379476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grande ≠ úsalo todo.  </a:t>
            </a:r>
            <a:pPr indent="0" marL="0">
              <a:buNone/>
            </a:pPr>
            <a:r>
              <a:rPr lang="en-US" sz="12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contexto innecesario incrementa costo, latencia y puede degradar la calidad ("lost in the middle").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457200" y="4754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AI Engineer  |  Código Facilito  |  Clase 2</a:t>
            </a:r>
            <a:endParaRPr lang="en-US" sz="800" dirty="0"/>
          </a:p>
        </p:txBody>
      </p:sp>
      <p:sp>
        <p:nvSpPr>
          <p:cNvPr id="10" name="Text 5"/>
          <p:cNvSpPr/>
          <p:nvPr/>
        </p:nvSpPr>
        <p:spPr>
          <a:xfrm>
            <a:off x="8229600" y="47548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"Lost in the Middle" Problem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3200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LLMs prestan más atención al inicio y al final del contexto. La información en el medio tiende a ignorarse.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31520" y="1828800"/>
            <a:ext cx="7680960" cy="2011680"/>
          </a:xfrm>
          <a:prstGeom prst="roundRect">
            <a:avLst>
              <a:gd name="adj" fmla="val 4545"/>
            </a:avLst>
          </a:prstGeom>
          <a:solidFill>
            <a:srgbClr val="1A1745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del modelo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097280" y="2286000"/>
            <a:ext cx="2011680" cy="1097280"/>
          </a:xfrm>
          <a:prstGeom prst="rect">
            <a:avLst/>
          </a:prstGeom>
          <a:solidFill>
            <a:srgbClr val="39FF14">
              <a:alpha val="3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22860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97280" y="3429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atención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83280" y="3017520"/>
            <a:ext cx="2377440" cy="365760"/>
          </a:xfrm>
          <a:prstGeom prst="rect">
            <a:avLst/>
          </a:prstGeom>
          <a:solidFill>
            <a:srgbClr val="FF4081">
              <a:alpha val="3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3383280" y="22860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383280" y="3429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atención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035040" y="2377440"/>
            <a:ext cx="2011680" cy="1005840"/>
          </a:xfrm>
          <a:prstGeom prst="rect">
            <a:avLst/>
          </a:prstGeom>
          <a:solidFill>
            <a:srgbClr val="39FF14">
              <a:alpha val="3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6035040" y="22860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035040" y="3429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atención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31520" y="4023360"/>
            <a:ext cx="7680960" cy="640080"/>
          </a:xfrm>
          <a:prstGeom prst="roundRect">
            <a:avLst>
              <a:gd name="adj" fmla="val 8571"/>
            </a:avLst>
          </a:prstGeom>
          <a:solidFill>
            <a:srgbClr val="0E1A0E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11480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371600" y="40233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Pon la información más importante al inicio del prompt y la instrucción al final.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457200" y="4754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AI Engineer  |  Código Facilito  |  Clase 2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8229600" y="47548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0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/02</a:t>
            </a:r>
            <a:endParaRPr lang="en-US" sz="7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7315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286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731520" y="33832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token es la moneda de los LLMs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31520" y="4206240"/>
            <a:ext cx="2286000" cy="36576"/>
          </a:xfrm>
          <a:prstGeom prst="rect">
            <a:avLst/>
          </a:prstGeom>
          <a:solidFill>
            <a:srgbClr val="00E5FF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de un Request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32004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1188720"/>
            <a:ext cx="3657600" cy="2926080"/>
          </a:xfrm>
          <a:prstGeom prst="roundRect">
            <a:avLst>
              <a:gd name="adj" fmla="val 3125"/>
            </a:avLst>
          </a:prstGeom>
          <a:solidFill>
            <a:srgbClr val="1A1745"/>
          </a:solidFill>
          <a:ln/>
        </p:spPr>
      </p:sp>
      <p:sp>
        <p:nvSpPr>
          <p:cNvPr id="6" name="Shape 3"/>
          <p:cNvSpPr/>
          <p:nvPr/>
        </p:nvSpPr>
        <p:spPr>
          <a:xfrm>
            <a:off x="731520" y="1188720"/>
            <a:ext cx="3657600" cy="54864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TOKENS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05840" y="1691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(tú pagas por enviar)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05840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926080" y="2103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3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~200-500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05840" y="2560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chat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926080" y="2560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3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~500-5,000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05840" y="3017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RAG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926080" y="3017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3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~1,000-10,000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05840" y="3474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 usuario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926080" y="3474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3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~20-200</a:t>
            </a:r>
            <a:endParaRPr lang="en-US" sz="11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377440"/>
            <a:ext cx="457200" cy="4572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120640" y="1188720"/>
            <a:ext cx="3474720" cy="2926080"/>
          </a:xfrm>
          <a:prstGeom prst="roundRect">
            <a:avLst>
              <a:gd name="adj" fmla="val 3125"/>
            </a:avLst>
          </a:prstGeom>
          <a:solidFill>
            <a:srgbClr val="1A1745"/>
          </a:solidFill>
          <a:ln/>
        </p:spPr>
      </p:sp>
      <p:sp>
        <p:nvSpPr>
          <p:cNvPr id="19" name="Shape 15"/>
          <p:cNvSpPr/>
          <p:nvPr/>
        </p:nvSpPr>
        <p:spPr>
          <a:xfrm>
            <a:off x="5120640" y="1188720"/>
            <a:ext cx="3474720" cy="54864"/>
          </a:xfrm>
          <a:prstGeom prst="rect">
            <a:avLst/>
          </a:prstGeom>
          <a:solidFill>
            <a:srgbClr val="FF4081"/>
          </a:solidFill>
          <a:ln/>
        </p:spPr>
      </p:sp>
      <p:sp>
        <p:nvSpPr>
          <p:cNvPr id="20" name="Text 16"/>
          <p:cNvSpPr/>
          <p:nvPr/>
        </p:nvSpPr>
        <p:spPr>
          <a:xfrm>
            <a:off x="5394960" y="1371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TOKENS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5394960" y="16916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(tú pagas por recibir — más caros)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5394960" y="210312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respuesta del modelo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Típicamente: ~100-4,000 tokens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tokens cuestan 2-4x más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input tokens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457200" y="4754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AI Engineer  |  Código Facilito  |  Clase 2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8229600" y="47548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Pricing: ¿Cuánto cuesta una llamada?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320040"/>
            <a:ext cx="502920" cy="502920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828800"/>
                <a:gridCol w="1828800"/>
                <a:gridCol w="1828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4D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Input/1M tok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4D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Output/1M tok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4D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típico*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4D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2.0 Flash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9FF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/ $0.10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9FF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/ $0.40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9FF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4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D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40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F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Sonnet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D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40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4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GPT-4.1 mini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F3A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731520" y="33832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*Costo típico = 1 request con ~2K input + 500 output tokens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731520" y="3749040"/>
            <a:ext cx="7680960" cy="822960"/>
          </a:xfrm>
          <a:prstGeom prst="roundRect">
            <a:avLst>
              <a:gd name="adj" fmla="val 8889"/>
            </a:avLst>
          </a:prstGeom>
          <a:solidFill>
            <a:srgbClr val="0E2A0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931920"/>
            <a:ext cx="365760" cy="3657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554480" y="37490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bootcamp usamos Gemini 2.0 Flash (free tier).  </a:t>
            </a:r>
            <a:pPr indent="0" marL="0">
              <a:buNone/>
            </a:pPr>
            <a:r>
              <a:rPr lang="en-US" sz="12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RPM, 1M tokens/min, 1,500 requests/día. Suficiente para aprender sin gastar un centavo.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457200" y="4754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AI Engineer  |  Código Facilito  |  Clase 2</a:t>
            </a:r>
            <a:endParaRPr lang="en-US" sz="800" dirty="0"/>
          </a:p>
        </p:txBody>
      </p:sp>
      <p:sp>
        <p:nvSpPr>
          <p:cNvPr id="11" name="Text 6"/>
          <p:cNvSpPr/>
          <p:nvPr/>
        </p:nvSpPr>
        <p:spPr>
          <a:xfrm>
            <a:off x="8229600" y="47548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Costo se Acumula Rápido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3200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Chatbot de atención al cliente con GPT-4o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31520" y="1554480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1A1745"/>
          </a:solidFill>
          <a:ln/>
        </p:spPr>
      </p:sp>
      <p:sp>
        <p:nvSpPr>
          <p:cNvPr id="7" name="Shape 4"/>
          <p:cNvSpPr/>
          <p:nvPr/>
        </p:nvSpPr>
        <p:spPr>
          <a:xfrm>
            <a:off x="731520" y="1554480"/>
            <a:ext cx="54864" cy="64008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1554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conversación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05840" y="1847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~3K tokens  →  $0.02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31520" y="2331720"/>
            <a:ext cx="3017520" cy="640080"/>
          </a:xfrm>
          <a:prstGeom prst="roundRect">
            <a:avLst>
              <a:gd name="adj" fmla="val 8571"/>
            </a:avLst>
          </a:prstGeom>
          <a:solidFill>
            <a:srgbClr val="1A1745"/>
          </a:solidFill>
          <a:ln/>
        </p:spPr>
      </p:sp>
      <p:sp>
        <p:nvSpPr>
          <p:cNvPr id="11" name="Shape 8"/>
          <p:cNvSpPr/>
          <p:nvPr/>
        </p:nvSpPr>
        <p:spPr>
          <a:xfrm>
            <a:off x="731520" y="2331720"/>
            <a:ext cx="54864" cy="64008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" y="2331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usuarios/día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05840" y="2624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~300K tokens  →  $2/día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31520" y="3108960"/>
            <a:ext cx="4663440" cy="640080"/>
          </a:xfrm>
          <a:prstGeom prst="roundRect">
            <a:avLst>
              <a:gd name="adj" fmla="val 8571"/>
            </a:avLst>
          </a:prstGeom>
          <a:solidFill>
            <a:srgbClr val="1A1745"/>
          </a:solidFill>
          <a:ln/>
        </p:spPr>
      </p:sp>
      <p:sp>
        <p:nvSpPr>
          <p:cNvPr id="15" name="Shape 12"/>
          <p:cNvSpPr/>
          <p:nvPr/>
        </p:nvSpPr>
        <p:spPr>
          <a:xfrm>
            <a:off x="731520" y="3108960"/>
            <a:ext cx="54864" cy="640080"/>
          </a:xfrm>
          <a:prstGeom prst="rect">
            <a:avLst/>
          </a:prstGeom>
          <a:solidFill>
            <a:srgbClr val="FF4081"/>
          </a:solidFill>
          <a:ln/>
        </p:spPr>
      </p:sp>
      <p:sp>
        <p:nvSpPr>
          <p:cNvPr id="16" name="Text 13"/>
          <p:cNvSpPr/>
          <p:nvPr/>
        </p:nvSpPr>
        <p:spPr>
          <a:xfrm>
            <a:off x="1005840" y="3108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usuarios/día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05840" y="3401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40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~30M tokens  →  $200/día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31520" y="3886200"/>
            <a:ext cx="6309360" cy="640080"/>
          </a:xfrm>
          <a:prstGeom prst="roundRect">
            <a:avLst>
              <a:gd name="adj" fmla="val 8571"/>
            </a:avLst>
          </a:prstGeom>
          <a:solidFill>
            <a:srgbClr val="1A1745"/>
          </a:solidFill>
          <a:ln/>
        </p:spPr>
      </p:sp>
      <p:sp>
        <p:nvSpPr>
          <p:cNvPr id="19" name="Shape 16"/>
          <p:cNvSpPr/>
          <p:nvPr/>
        </p:nvSpPr>
        <p:spPr>
          <a:xfrm>
            <a:off x="731520" y="3886200"/>
            <a:ext cx="54864" cy="640080"/>
          </a:xfrm>
          <a:prstGeom prst="rect">
            <a:avLst/>
          </a:prstGeom>
          <a:solidFill>
            <a:srgbClr val="FF4040"/>
          </a:solidFill>
          <a:ln/>
        </p:spPr>
      </p:sp>
      <p:sp>
        <p:nvSpPr>
          <p:cNvPr id="20" name="Text 17"/>
          <p:cNvSpPr/>
          <p:nvPr/>
        </p:nvSpPr>
        <p:spPr>
          <a:xfrm>
            <a:off x="1005840" y="3886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usuarios/día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005840" y="4178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4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~300M tokens  →  $2,000/día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029200" y="3931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$60,000 USD/mes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5029200" y="4343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100K usuarios con GPT-4o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57200" y="4754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AI Engineer  |  Código Facilito  |  Clase 2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8229600" y="47548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por Feature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3200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0515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feature de tu sistema tiene un budget de tokens. Si no lo defines, tu producto explota en costos.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31520" y="1691640"/>
            <a:ext cx="7680960" cy="640080"/>
          </a:xfrm>
          <a:prstGeom prst="roundRect">
            <a:avLst>
              <a:gd name="adj" fmla="val 8571"/>
            </a:avLst>
          </a:prstGeom>
          <a:solidFill>
            <a:srgbClr val="1A1745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01368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691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de intent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749040" y="16916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In: ~200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937760" y="16916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40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Out: ~10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6126480" y="16916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$0.001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132320" y="16916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731520" y="2468880"/>
            <a:ext cx="7680960" cy="640080"/>
          </a:xfrm>
          <a:prstGeom prst="roundRect">
            <a:avLst>
              <a:gd name="adj" fmla="val 8571"/>
            </a:avLst>
          </a:prstGeom>
          <a:solidFill>
            <a:srgbClr val="1A1745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578608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2468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 documento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749040" y="24688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In: ~4,000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4937760" y="24688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40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Out: ~500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6126480" y="2468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$0.015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7132320" y="24688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Media-Alta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731520" y="3246120"/>
            <a:ext cx="7680960" cy="640080"/>
          </a:xfrm>
          <a:prstGeom prst="roundRect">
            <a:avLst>
              <a:gd name="adj" fmla="val 8571"/>
            </a:avLst>
          </a:prstGeom>
          <a:solidFill>
            <a:srgbClr val="1A174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355848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3246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RAG: pregunta + contexto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3749040" y="32461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In: ~3,000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937760" y="32461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40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Out: ~300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6126480" y="32461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$0.010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7132320" y="32461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731520" y="4023360"/>
            <a:ext cx="7680960" cy="640080"/>
          </a:xfrm>
          <a:prstGeom prst="roundRect">
            <a:avLst>
              <a:gd name="adj" fmla="val 8571"/>
            </a:avLst>
          </a:prstGeom>
          <a:solidFill>
            <a:srgbClr val="1A1745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133088"/>
            <a:ext cx="320040" cy="32004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371600" y="4023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multi-step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3749040" y="40233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In: ~10,000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4937760" y="40233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40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Out: ~2,000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6126480" y="40233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$0.050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7132320" y="40233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*Precios estimados con GPT-4o. Con Gemini free tier = $0.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457200" y="4754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AI Engineer  |  Código Facilito  |  Clase 2</a:t>
            </a:r>
            <a:endParaRPr lang="en-US" sz="800" dirty="0"/>
          </a:p>
        </p:txBody>
      </p:sp>
      <p:sp>
        <p:nvSpPr>
          <p:cNvPr id="36" name="Text 29"/>
          <p:cNvSpPr/>
          <p:nvPr/>
        </p:nvSpPr>
        <p:spPr>
          <a:xfrm>
            <a:off x="8229600" y="47548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0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/03</a:t>
            </a:r>
            <a:endParaRPr lang="en-US" sz="7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7315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286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731520" y="33832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diferencia entre un producto usable y uno abandonado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31520" y="4206240"/>
            <a:ext cx="2286000" cy="36576"/>
          </a:xfrm>
          <a:prstGeom prst="rect">
            <a:avLst/>
          </a:prstGeom>
          <a:solidFill>
            <a:srgbClr val="00E5FF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Clave de Latencia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32004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118872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1A1745"/>
          </a:solidFill>
          <a:ln/>
        </p:spPr>
      </p:sp>
      <p:sp>
        <p:nvSpPr>
          <p:cNvPr id="6" name="Shape 3"/>
          <p:cNvSpPr/>
          <p:nvPr/>
        </p:nvSpPr>
        <p:spPr>
          <a:xfrm>
            <a:off x="731520" y="1188720"/>
            <a:ext cx="3657600" cy="54864"/>
          </a:xfrm>
          <a:prstGeom prst="rect">
            <a:avLst/>
          </a:prstGeom>
          <a:solidFill>
            <a:srgbClr val="FF4081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41732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1417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TTFT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1005840" y="1965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First Token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005840" y="23317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desde que envías el request hasta que recibes el primer token. Es lo que el usuario percibe como "velocidad de reacción".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754880" y="1188720"/>
            <a:ext cx="3840480" cy="2286000"/>
          </a:xfrm>
          <a:prstGeom prst="roundRect">
            <a:avLst>
              <a:gd name="adj" fmla="val 4000"/>
            </a:avLst>
          </a:prstGeom>
          <a:solidFill>
            <a:srgbClr val="1A1745"/>
          </a:solidFill>
          <a:ln/>
        </p:spPr>
      </p:sp>
      <p:sp>
        <p:nvSpPr>
          <p:cNvPr id="12" name="Shape 8"/>
          <p:cNvSpPr/>
          <p:nvPr/>
        </p:nvSpPr>
        <p:spPr>
          <a:xfrm>
            <a:off x="4754880" y="1188720"/>
            <a:ext cx="3840480" cy="54864"/>
          </a:xfrm>
          <a:prstGeom prst="rect">
            <a:avLst/>
          </a:prstGeom>
          <a:solidFill>
            <a:srgbClr val="00E5F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41732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577840" y="1417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5029200" y="1965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Per Second (throughput)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029200" y="23317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a la que el modelo genera tokens una vez que empezó. Determina cuánto tarda en completar la respuesta.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31520" y="3749040"/>
            <a:ext cx="7680960" cy="822960"/>
          </a:xfrm>
          <a:prstGeom prst="roundRect">
            <a:avLst>
              <a:gd name="adj" fmla="val 8889"/>
            </a:avLst>
          </a:prstGeom>
          <a:solidFill>
            <a:srgbClr val="0A0825"/>
          </a:solidFill>
          <a:ln/>
        </p:spPr>
      </p:sp>
      <p:sp>
        <p:nvSpPr>
          <p:cNvPr id="18" name="Text 13"/>
          <p:cNvSpPr/>
          <p:nvPr/>
        </p:nvSpPr>
        <p:spPr>
          <a:xfrm>
            <a:off x="914400" y="3749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B3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Latencia total  =  </a:t>
            </a:r>
            <a:pPr algn="ctr" indent="0" marL="0">
              <a:buNone/>
            </a:pPr>
            <a:r>
              <a:rPr lang="en-US" sz="1600" b="1" dirty="0">
                <a:solidFill>
                  <a:srgbClr val="FF40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TTFT</a:t>
            </a:r>
            <a:pPr algn="ctr" indent="0" marL="0">
              <a:buNone/>
            </a:pPr>
            <a:r>
              <a:rPr lang="en-US" sz="1400" dirty="0">
                <a:solidFill>
                  <a:srgbClr val="B0B3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 (</a:t>
            </a:r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output_tokens</a:t>
            </a:r>
            <a:pPr algn="ctr" indent="0" marL="0">
              <a:buNone/>
            </a:pPr>
            <a:r>
              <a:rPr lang="en-US" sz="1400" dirty="0">
                <a:solidFill>
                  <a:srgbClr val="B0B3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pPr algn="ctr"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TPS</a:t>
            </a:r>
            <a:pPr algn="ctr" indent="0" marL="0">
              <a:buNone/>
            </a:pPr>
            <a:r>
              <a:rPr lang="en-US" sz="1400" dirty="0">
                <a:solidFill>
                  <a:srgbClr val="B0B3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57200" y="4754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AI Engineer  |  Código Facilito  |  Clase 2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8229600" y="47548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Afecta la Latencia?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32004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1143000"/>
            <a:ext cx="7680960" cy="502920"/>
          </a:xfrm>
          <a:prstGeom prst="roundRect">
            <a:avLst>
              <a:gd name="adj" fmla="val 10909"/>
            </a:avLst>
          </a:prstGeom>
          <a:solidFill>
            <a:srgbClr val="1A1745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143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del input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200400" y="1234440"/>
            <a:ext cx="822960" cy="320040"/>
          </a:xfrm>
          <a:prstGeom prst="rect">
            <a:avLst/>
          </a:prstGeom>
          <a:solidFill>
            <a:srgbClr val="FF408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206240" y="11430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tokens de entrada = más tiempo de prefill (TTFT aumenta)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31520" y="1737360"/>
            <a:ext cx="7680960" cy="502920"/>
          </a:xfrm>
          <a:prstGeom prst="roundRect">
            <a:avLst>
              <a:gd name="adj" fmla="val 10909"/>
            </a:avLst>
          </a:prstGeom>
          <a:solidFill>
            <a:srgbClr val="1A1745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737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output tokens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00400" y="1828800"/>
            <a:ext cx="822960" cy="320040"/>
          </a:xfrm>
          <a:prstGeom prst="rect">
            <a:avLst/>
          </a:prstGeom>
          <a:solidFill>
            <a:srgbClr val="FF408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206240" y="17373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tokens de salida = más tiempo total de generación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31520" y="2331720"/>
            <a:ext cx="7680960" cy="502920"/>
          </a:xfrm>
          <a:prstGeom prst="roundRect">
            <a:avLst>
              <a:gd name="adj" fmla="val 10909"/>
            </a:avLst>
          </a:prstGeom>
          <a:solidFill>
            <a:srgbClr val="1A1745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2331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elegido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200400" y="2423160"/>
            <a:ext cx="822960" cy="320040"/>
          </a:xfrm>
          <a:prstGeom prst="rect">
            <a:avLst/>
          </a:prstGeom>
          <a:solidFill>
            <a:srgbClr val="FF408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206240" y="23317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más grandes = más lentos. GPT-4o vs Flash = 3-5x diferencia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31520" y="2926080"/>
            <a:ext cx="7680960" cy="502920"/>
          </a:xfrm>
          <a:prstGeom prst="roundRect">
            <a:avLst>
              <a:gd name="adj" fmla="val 10909"/>
            </a:avLst>
          </a:prstGeom>
          <a:solidFill>
            <a:srgbClr val="1A1745"/>
          </a:solidFill>
          <a:ln/>
        </p:spPr>
      </p:sp>
      <p:sp>
        <p:nvSpPr>
          <p:cNvPr id="18" name="Text 15"/>
          <p:cNvSpPr/>
          <p:nvPr/>
        </p:nvSpPr>
        <p:spPr>
          <a:xfrm>
            <a:off x="914400" y="2926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Región del servidor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200400" y="3017520"/>
            <a:ext cx="822960" cy="320040"/>
          </a:xfrm>
          <a:prstGeom prst="rect">
            <a:avLst/>
          </a:prstGeom>
          <a:solidFill>
            <a:srgbClr val="FFD6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206240" y="29260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de red. US-East vs Asia puede agregar 200-500ms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31520" y="3520440"/>
            <a:ext cx="7680960" cy="502920"/>
          </a:xfrm>
          <a:prstGeom prst="roundRect">
            <a:avLst>
              <a:gd name="adj" fmla="val 10909"/>
            </a:avLst>
          </a:prstGeom>
          <a:solidFill>
            <a:srgbClr val="1A1745"/>
          </a:solidFill>
          <a:ln/>
        </p:spPr>
      </p:sp>
      <p:sp>
        <p:nvSpPr>
          <p:cNvPr id="22" name="Text 19"/>
          <p:cNvSpPr/>
          <p:nvPr/>
        </p:nvSpPr>
        <p:spPr>
          <a:xfrm>
            <a:off x="914400" y="3520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del proveedor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200400" y="3611880"/>
            <a:ext cx="822960" cy="320040"/>
          </a:xfrm>
          <a:prstGeom prst="rect">
            <a:avLst/>
          </a:prstGeom>
          <a:solidFill>
            <a:srgbClr val="FFD6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206240" y="35204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limits y congestión impactan TTFT en horas pico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31520" y="4114800"/>
            <a:ext cx="7680960" cy="502920"/>
          </a:xfrm>
          <a:prstGeom prst="roundRect">
            <a:avLst>
              <a:gd name="adj" fmla="val 10909"/>
            </a:avLst>
          </a:prstGeom>
          <a:solidFill>
            <a:srgbClr val="1A1745"/>
          </a:solidFill>
          <a:ln/>
        </p:spPr>
      </p:sp>
      <p:sp>
        <p:nvSpPr>
          <p:cNvPr id="26" name="Text 23"/>
          <p:cNvSpPr/>
          <p:nvPr/>
        </p:nvSpPr>
        <p:spPr>
          <a:xfrm>
            <a:off x="914400" y="4114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habilitado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200400" y="4206240"/>
            <a:ext cx="822960" cy="320040"/>
          </a:xfrm>
          <a:prstGeom prst="rect">
            <a:avLst/>
          </a:prstGeom>
          <a:solidFill>
            <a:srgbClr val="39FF1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206240" y="41148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cambia latencia total pero mejora percepción del usuario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57200" y="4754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AI Engineer  |  Código Facilito  |  Clase 2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8229600" y="47548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vs No-Streaming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32004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1097280"/>
            <a:ext cx="3657600" cy="2743200"/>
          </a:xfrm>
          <a:prstGeom prst="roundRect">
            <a:avLst>
              <a:gd name="adj" fmla="val 3333"/>
            </a:avLst>
          </a:prstGeom>
          <a:solidFill>
            <a:srgbClr val="1A1745"/>
          </a:solidFill>
          <a:ln/>
        </p:spPr>
      </p:sp>
      <p:sp>
        <p:nvSpPr>
          <p:cNvPr id="6" name="Shape 3"/>
          <p:cNvSpPr/>
          <p:nvPr/>
        </p:nvSpPr>
        <p:spPr>
          <a:xfrm>
            <a:off x="731520" y="1097280"/>
            <a:ext cx="3657600" cy="54864"/>
          </a:xfrm>
          <a:prstGeom prst="rect">
            <a:avLst/>
          </a:prstGeom>
          <a:solidFill>
            <a:srgbClr val="FF4081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Streaming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5840" y="173736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→ espera... → respuesta completa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ve pantalla en blanco durante toda la generación.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Percepción: "está roto"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Útil: pipelines internos, batch, respuestas cortas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097280"/>
            <a:ext cx="3840480" cy="2743200"/>
          </a:xfrm>
          <a:prstGeom prst="roundRect">
            <a:avLst>
              <a:gd name="adj" fmla="val 3333"/>
            </a:avLst>
          </a:prstGeom>
          <a:solidFill>
            <a:srgbClr val="1A1745"/>
          </a:solidFill>
          <a:ln/>
        </p:spPr>
      </p:sp>
      <p:sp>
        <p:nvSpPr>
          <p:cNvPr id="10" name="Shape 7"/>
          <p:cNvSpPr/>
          <p:nvPr/>
        </p:nvSpPr>
        <p:spPr>
          <a:xfrm>
            <a:off x="4754880" y="1097280"/>
            <a:ext cx="3840480" cy="54864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0" y="1280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Streaming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029200" y="1737360"/>
            <a:ext cx="3291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→ tokens llegan de a poco...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ve la respuesta construyéndose en tiempo real.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Percepción: "rápido e inteligente"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Útil: chatbots, UX de usuario final, respuestas largas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31520" y="4114800"/>
            <a:ext cx="7680960" cy="502920"/>
          </a:xfrm>
          <a:prstGeom prst="roundRect">
            <a:avLst>
              <a:gd name="adj" fmla="val 10909"/>
            </a:avLst>
          </a:prstGeom>
          <a:solidFill>
            <a:srgbClr val="0E1A0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16052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71600" y="41148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latencia total es la misma. Streaming mejora la experiencia percibida, no la velocidad real.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57200" y="4754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AI Engineer  |  Código Facilito  |  Clase 2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8229600" y="47548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en Producción: Números Reales</a:t>
            </a:r>
            <a:endParaRPr lang="en-US" sz="2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1554480"/>
                <a:gridCol w="24688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Escenario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4D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4D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4D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4D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Clasificación simple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9FF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~200ms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9FF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~400ms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9FF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Instantáneo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con RAG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D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~800ms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D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~3-5s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0B3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Aceptable con streaming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Agente multi-tool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40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~1-2s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40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~10-30s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0B3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Necesita progress bar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7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Generación de reporte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~2-5s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~30-120s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0B3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 obligatorio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6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F3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3657600"/>
            <a:ext cx="7680960" cy="914400"/>
          </a:xfrm>
          <a:prstGeom prst="roundRect">
            <a:avLst>
              <a:gd name="adj" fmla="val 8000"/>
            </a:avLst>
          </a:prstGeom>
          <a:solidFill>
            <a:srgbClr val="1A1745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UX:  </a:t>
            </a:r>
            <a:pPr algn="ctr" indent="0" marL="0">
              <a:buNone/>
            </a:pPr>
            <a:r>
              <a:rPr lang="en-US" sz="14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&lt;200ms</a:t>
            </a:r>
            <a:pPr algn="ctr" indent="0" marL="0">
              <a:buNone/>
            </a:pPr>
            <a:r>
              <a:rPr lang="en-US" sz="13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instantáneo  |  </a:t>
            </a:r>
            <a:pPr algn="ctr" indent="0" marL="0">
              <a:buNone/>
            </a:pPr>
            <a:r>
              <a:rPr lang="en-US" sz="14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&lt;1s</a:t>
            </a:r>
            <a:pPr algn="ctr" indent="0" marL="0">
              <a:buNone/>
            </a:pPr>
            <a:r>
              <a:rPr lang="en-US" sz="13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fluido  |  </a:t>
            </a:r>
            <a:pPr algn="ctr" indent="0" marL="0">
              <a:buNone/>
            </a:pPr>
            <a:r>
              <a:rPr lang="en-US" sz="14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&lt;5s</a:t>
            </a:r>
            <a:pPr algn="ctr" indent="0" marL="0">
              <a:buNone/>
            </a:pPr>
            <a:r>
              <a:rPr lang="en-US" sz="13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aceptable  |  </a:t>
            </a:r>
            <a:pPr algn="ctr" indent="0" marL="0">
              <a:buNone/>
            </a:pPr>
            <a:r>
              <a:rPr lang="en-US" sz="1400" b="1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&gt;10s</a:t>
            </a:r>
            <a:pPr algn="ctr" indent="0" marL="0">
              <a:buNone/>
            </a:pPr>
            <a:r>
              <a:rPr lang="en-US" sz="13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frustración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AI Engineer  |  Código Facilito  |  Clase 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229600" y="47548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20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/04</a:t>
            </a:r>
            <a:endParaRPr lang="en-US" sz="7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7315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286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Variación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731520" y="33832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Determinismo y reproducibilidad en producción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31520" y="4206240"/>
            <a:ext cx="2286000" cy="36576"/>
          </a:xfrm>
          <a:prstGeom prst="rect">
            <a:avLst/>
          </a:prstGeom>
          <a:solidFill>
            <a:srgbClr val="00E5FF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Temperature: Creatividad vs Precisión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3200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temperature controla qué tan creativa o determinista es la salida del modelo. Rango: 0.0 a 2.0.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31520" y="1737360"/>
            <a:ext cx="7680960" cy="457200"/>
          </a:xfrm>
          <a:prstGeom prst="roundRect">
            <a:avLst>
              <a:gd name="adj" fmla="val 12000"/>
            </a:avLst>
          </a:prstGeom>
          <a:solidFill>
            <a:srgbClr val="1A1745"/>
          </a:solidFill>
          <a:ln/>
        </p:spPr>
      </p:sp>
      <p:sp>
        <p:nvSpPr>
          <p:cNvPr id="7" name="Shape 4"/>
          <p:cNvSpPr/>
          <p:nvPr/>
        </p:nvSpPr>
        <p:spPr>
          <a:xfrm>
            <a:off x="777240" y="1783080"/>
            <a:ext cx="1078992" cy="365760"/>
          </a:xfrm>
          <a:prstGeom prst="rect">
            <a:avLst/>
          </a:prstGeom>
          <a:solidFill>
            <a:srgbClr val="0044FF">
              <a:alpha val="4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1856232" y="1783080"/>
            <a:ext cx="1078992" cy="365760"/>
          </a:xfrm>
          <a:prstGeom prst="rect">
            <a:avLst/>
          </a:prstGeom>
          <a:solidFill>
            <a:srgbClr val="0088FF">
              <a:alpha val="4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2935224" y="1783080"/>
            <a:ext cx="1078992" cy="365760"/>
          </a:xfrm>
          <a:prstGeom prst="rect">
            <a:avLst/>
          </a:prstGeom>
          <a:solidFill>
            <a:srgbClr val="00CCFF">
              <a:alpha val="4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014216" y="1783080"/>
            <a:ext cx="1078992" cy="365760"/>
          </a:xfrm>
          <a:prstGeom prst="rect">
            <a:avLst/>
          </a:prstGeom>
          <a:solidFill>
            <a:srgbClr val="44FF44">
              <a:alpha val="4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5093208" y="1783080"/>
            <a:ext cx="1078992" cy="365760"/>
          </a:xfrm>
          <a:prstGeom prst="rect">
            <a:avLst/>
          </a:prstGeom>
          <a:solidFill>
            <a:srgbClr val="FFFF00">
              <a:alpha val="4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6172200" y="1783080"/>
            <a:ext cx="1078992" cy="365760"/>
          </a:xfrm>
          <a:prstGeom prst="rect">
            <a:avLst/>
          </a:prstGeom>
          <a:solidFill>
            <a:srgbClr val="FF8800">
              <a:alpha val="4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7251192" y="1783080"/>
            <a:ext cx="1078992" cy="365760"/>
          </a:xfrm>
          <a:prstGeom prst="rect">
            <a:avLst/>
          </a:prstGeom>
          <a:solidFill>
            <a:srgbClr val="FF0000">
              <a:alpha val="4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17373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680960" y="17373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2.0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371600" y="22402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Determinista ←                                                        → Creativo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31520" y="265176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1A1745"/>
          </a:solidFill>
          <a:ln/>
        </p:spPr>
      </p:sp>
      <p:sp>
        <p:nvSpPr>
          <p:cNvPr id="18" name="Text 15"/>
          <p:cNvSpPr/>
          <p:nvPr/>
        </p:nvSpPr>
        <p:spPr>
          <a:xfrm>
            <a:off x="914400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 = 0.0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14400" y="3063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Determinista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14400" y="33375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Clasificación, extracción de datos, JSON parsing, funciones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14400" y="3977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Producción: tareas con respuesta correcta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474720" y="265176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1A1745"/>
          </a:solidFill>
          <a:ln/>
        </p:spPr>
      </p:sp>
      <p:sp>
        <p:nvSpPr>
          <p:cNvPr id="23" name="Text 20"/>
          <p:cNvSpPr/>
          <p:nvPr/>
        </p:nvSpPr>
        <p:spPr>
          <a:xfrm>
            <a:off x="3657600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 = 0.7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3657600" y="3063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Balanceado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657600" y="33375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conversacional, resúmenes, explicaciones, redacción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3657600" y="3977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para la mayoría de aplicaciones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217920" y="2651760"/>
            <a:ext cx="3108960" cy="1920240"/>
          </a:xfrm>
          <a:prstGeom prst="roundRect">
            <a:avLst>
              <a:gd name="adj" fmla="val 3810"/>
            </a:avLst>
          </a:prstGeom>
          <a:solidFill>
            <a:srgbClr val="1A1745"/>
          </a:solidFill>
          <a:ln/>
        </p:spPr>
      </p:sp>
      <p:sp>
        <p:nvSpPr>
          <p:cNvPr id="28" name="Text 25"/>
          <p:cNvSpPr/>
          <p:nvPr/>
        </p:nvSpPr>
        <p:spPr>
          <a:xfrm>
            <a:off x="6400800" y="2743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40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 = 1.2+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400800" y="3063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Creativo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400800" y="33375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Brainstorming, escritura creativa, exploración de ideas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400800" y="3977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Cuidado: puede alucinar más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57200" y="4754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AI Engineer  |  Código Facilito  |  Clase 2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8229600" y="47548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Top-P y Top-K: Filtros de Vocabulario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840480" cy="2286000"/>
          </a:xfrm>
          <a:prstGeom prst="roundRect">
            <a:avLst>
              <a:gd name="adj" fmla="val 4000"/>
            </a:avLst>
          </a:prstGeom>
          <a:solidFill>
            <a:srgbClr val="1A1745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97280"/>
            <a:ext cx="54864" cy="2286000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top_p (Nucleus Sampling)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 solo tokens cuya probabilidad acumulada suma p.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top_p = 0.1 → solo los más probables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top_p = 0.9 → vocabulario más amplio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1.0 (sin filtro)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840480" cy="2286000"/>
          </a:xfrm>
          <a:prstGeom prst="roundRect">
            <a:avLst>
              <a:gd name="adj" fmla="val 4000"/>
            </a:avLst>
          </a:prstGeom>
          <a:solidFill>
            <a:srgbClr val="1A1745"/>
          </a:solidFill>
          <a:ln/>
        </p:spPr>
      </p:sp>
      <p:sp>
        <p:nvSpPr>
          <p:cNvPr id="9" name="Shape 7"/>
          <p:cNvSpPr/>
          <p:nvPr/>
        </p:nvSpPr>
        <p:spPr>
          <a:xfrm>
            <a:off x="4846320" y="1097280"/>
            <a:ext cx="54864" cy="228600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top_k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20640" y="164592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 solo los K tokens más probables para el siguiente paso.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top_k = 1  → greedy (siempre el más probable)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top_k = 40 → vocabulario moderado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todos los proveedores lo exponen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657600"/>
            <a:ext cx="7680960" cy="914400"/>
          </a:xfrm>
          <a:prstGeom prst="roundRect">
            <a:avLst>
              <a:gd name="adj" fmla="val 8000"/>
            </a:avLst>
          </a:prstGeom>
          <a:solidFill>
            <a:srgbClr val="0A0825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749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producción: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 </a:t>
            </a:r>
            <a:pPr indent="0" marL="0">
              <a:buNone/>
            </a:pPr>
            <a:r>
              <a:rPr lang="en-US" sz="12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</a:t>
            </a:r>
            <a:pPr indent="0" marL="0">
              <a:buNone/>
            </a:pPr>
            <a:r>
              <a:rPr lang="en-US" sz="12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top_p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 ambos.  Para extracción/clasificación: </a:t>
            </a:r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temp=0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listo.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754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AI Engineer  |  Código Facilito  |  Clase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47548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Determinismo en Producción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3200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0515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¿Puedes obtener la misma respuesta dos veces? Spoiler: no siempre, pero puedes acercarte.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31520" y="1645920"/>
            <a:ext cx="4572000" cy="2286000"/>
          </a:xfrm>
          <a:prstGeom prst="roundRect">
            <a:avLst>
              <a:gd name="adj" fmla="val 3200"/>
            </a:avLst>
          </a:prstGeom>
          <a:solidFill>
            <a:srgbClr val="0A0825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691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para máximo determinismo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914400" y="201168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generation_config = {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"temperature": 0.0,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"top_p": 1.0,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"top_k": 1,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"max_output_tokens": 256,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69280" y="1645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 con temp=0: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669280" y="2103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1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Actualizaciones del modelo pueden cambiar outputs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66928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1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Batching del servidor puede introducir variaciones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669280" y="3108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1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Diferentes contextos = diferentes resultados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669280" y="3611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1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valida con tests, nunca asumas determinismo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4754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AI Engineer  |  Código Facilito  |  Clase 2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229600" y="47548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max_output_tokens: Tu Mejor Amigo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3200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0515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Limitar los tokens de salida es la forma más directa de controlar costo y latencia por request.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31520" y="1691640"/>
            <a:ext cx="7680960" cy="411480"/>
          </a:xfrm>
          <a:prstGeom prst="roundRect">
            <a:avLst>
              <a:gd name="adj" fmla="val 11111"/>
            </a:avLst>
          </a:prstGeom>
          <a:solidFill>
            <a:srgbClr val="1A1745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691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(sí/no)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474720" y="16916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54880" y="1691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3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~100ms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0" y="1691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1520" y="2194560"/>
            <a:ext cx="7680960" cy="411480"/>
          </a:xfrm>
          <a:prstGeom prst="roundRect">
            <a:avLst>
              <a:gd name="adj" fmla="val 11111"/>
            </a:avLst>
          </a:prstGeom>
          <a:solidFill>
            <a:srgbClr val="1A1745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2194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JSON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474720" y="21945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256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754880" y="2194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3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~500ms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0" y="2194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31520" y="2697480"/>
            <a:ext cx="7680960" cy="411480"/>
          </a:xfrm>
          <a:prstGeom prst="roundRect">
            <a:avLst>
              <a:gd name="adj" fmla="val 11111"/>
            </a:avLst>
          </a:prstGeom>
          <a:solidFill>
            <a:srgbClr val="1A1745"/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" y="2697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corto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474720" y="26974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754880" y="2697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3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00800" y="2697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31520" y="3200400"/>
            <a:ext cx="7680960" cy="411480"/>
          </a:xfrm>
          <a:prstGeom prst="roundRect">
            <a:avLst>
              <a:gd name="adj" fmla="val 11111"/>
            </a:avLst>
          </a:prstGeom>
          <a:solidFill>
            <a:srgbClr val="1A1745"/>
          </a:solidFill>
          <a:ln/>
        </p:spPr>
      </p:sp>
      <p:sp>
        <p:nvSpPr>
          <p:cNvPr id="22" name="Text 19"/>
          <p:cNvSpPr/>
          <p:nvPr/>
        </p:nvSpPr>
        <p:spPr>
          <a:xfrm>
            <a:off x="914400" y="3200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de chat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474720" y="32004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1,024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754880" y="3200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3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~2-3s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400800" y="3200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31520" y="3703320"/>
            <a:ext cx="7680960" cy="411480"/>
          </a:xfrm>
          <a:prstGeom prst="roundRect">
            <a:avLst>
              <a:gd name="adj" fmla="val 11111"/>
            </a:avLst>
          </a:prstGeom>
          <a:solidFill>
            <a:srgbClr val="1A1745"/>
          </a:solidFill>
          <a:ln/>
        </p:spPr>
      </p:sp>
      <p:sp>
        <p:nvSpPr>
          <p:cNvPr id="27" name="Text 24"/>
          <p:cNvSpPr/>
          <p:nvPr/>
        </p:nvSpPr>
        <p:spPr>
          <a:xfrm>
            <a:off x="914400" y="37033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largo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3474720" y="37033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40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4,096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754880" y="3703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3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~8-15s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400800" y="3703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31520" y="4206240"/>
            <a:ext cx="7680960" cy="411480"/>
          </a:xfrm>
          <a:prstGeom prst="roundRect">
            <a:avLst>
              <a:gd name="adj" fmla="val 11111"/>
            </a:avLst>
          </a:prstGeom>
          <a:solidFill>
            <a:srgbClr val="2A0A0A"/>
          </a:solidFill>
          <a:ln/>
        </p:spPr>
      </p:sp>
      <p:sp>
        <p:nvSpPr>
          <p:cNvPr id="32" name="Text 29"/>
          <p:cNvSpPr/>
          <p:nvPr/>
        </p:nvSpPr>
        <p:spPr>
          <a:xfrm>
            <a:off x="914400" y="4206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límite (peligro)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3474720" y="42062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4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4754880" y="4206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3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???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400800" y="4206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???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731520" y="4206240"/>
            <a:ext cx="7680960" cy="502920"/>
          </a:xfrm>
          <a:prstGeom prst="roundRect">
            <a:avLst>
              <a:gd name="adj" fmla="val 10909"/>
            </a:avLst>
          </a:prstGeom>
          <a:solidFill>
            <a:srgbClr val="2A0A0A"/>
          </a:solidFill>
          <a:ln/>
        </p:spPr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251960"/>
            <a:ext cx="274320" cy="274320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1371600" y="42062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dejes max_output_tokens sin definir en producción. Un LLM sin límite puede generar miles de tokens innecesarios.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457200" y="4754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AI Engineer  |  Código Facilito  |  Clase 2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8229600" y="47548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Está Conectado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7680960" cy="3657600"/>
          </a:xfrm>
          <a:prstGeom prst="roundRect">
            <a:avLst>
              <a:gd name="adj" fmla="val 2500"/>
            </a:avLst>
          </a:prstGeom>
          <a:solidFill>
            <a:srgbClr val="1A1745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0" y="137160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0D0B2E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1508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1965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de todo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0" y="137160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0D0B2E"/>
          </a:solidFill>
          <a:ln w="25400">
            <a:solidFill>
              <a:srgbClr val="7C4D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1508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0" y="1965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capacidad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0" y="320040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0D0B2E"/>
          </a:solidFill>
          <a:ln w="25400">
            <a:solidFill>
              <a:srgbClr val="39FF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3337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28800" y="3794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presupuesto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320040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0D0B2E"/>
          </a:solidFill>
          <a:ln w="25400">
            <a:solidFill>
              <a:srgbClr val="FF40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3337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43600" y="3794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UX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tokens →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91840" y="2560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más costo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0" y="2560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más latencia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AI Engineer  |  Código Facilito  |  Clase 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229600" y="47548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20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914400"/>
            <a:ext cx="6400800" cy="3200400"/>
          </a:xfrm>
          <a:prstGeom prst="roundRect">
            <a:avLst>
              <a:gd name="adj" fmla="val 4286"/>
            </a:avLst>
          </a:prstGeom>
          <a:solidFill>
            <a:srgbClr val="1A1745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0" y="137160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 no puedes medir el costo de cada request, no estás haciendo ingeniería de IA. Estás rezando."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0" y="3200400"/>
            <a:ext cx="146304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3383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del AI Engineer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de Código: tokenlab.py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3200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0515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a construir la herramienta que usaremos el resto del bootcamp para medir y controlar cada request.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31520" y="1691640"/>
            <a:ext cx="7680960" cy="640080"/>
          </a:xfrm>
          <a:prstGeom prst="roundRect">
            <a:avLst>
              <a:gd name="adj" fmla="val 8571"/>
            </a:avLst>
          </a:prstGeom>
          <a:solidFill>
            <a:srgbClr val="1A1745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01368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1691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count_tokens(text)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389120" y="16916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Contar tokens de cualquier texto usando la API de Gemini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731520" y="2468880"/>
            <a:ext cx="7680960" cy="640080"/>
          </a:xfrm>
          <a:prstGeom prst="roundRect">
            <a:avLst>
              <a:gd name="adj" fmla="val 8571"/>
            </a:avLst>
          </a:prstGeom>
          <a:solidFill>
            <a:srgbClr val="1A1745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578608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63040" y="2468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estimate_cost(input, output)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4389120" y="24688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costo estimado por modelo y por request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731520" y="3246120"/>
            <a:ext cx="7680960" cy="640080"/>
          </a:xfrm>
          <a:prstGeom prst="roundRect">
            <a:avLst>
              <a:gd name="adj" fmla="val 8571"/>
            </a:avLst>
          </a:prstGeom>
          <a:solidFill>
            <a:srgbClr val="1A1745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355848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63040" y="3246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measure_latency(request)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4389120" y="32461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TTFT y TPS de cada llamada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731520" y="4023360"/>
            <a:ext cx="7680960" cy="640080"/>
          </a:xfrm>
          <a:prstGeom prst="roundRect">
            <a:avLst>
              <a:gd name="adj" fmla="val 8571"/>
            </a:avLst>
          </a:prstGeom>
          <a:solidFill>
            <a:srgbClr val="1A1745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133088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463040" y="40233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check_budget(feature)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4389120" y="40233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si un request está dentro del budget asignado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731520" y="4114800"/>
            <a:ext cx="7680960" cy="502920"/>
          </a:xfrm>
          <a:prstGeom prst="roundRect">
            <a:avLst>
              <a:gd name="adj" fmla="val 10909"/>
            </a:avLst>
          </a:prstGeom>
          <a:solidFill>
            <a:srgbClr val="0A0825"/>
          </a:solidFill>
          <a:ln/>
        </p:spPr>
      </p:sp>
      <p:sp>
        <p:nvSpPr>
          <p:cNvPr id="23" name="Text 16"/>
          <p:cNvSpPr/>
          <p:nvPr/>
        </p:nvSpPr>
        <p:spPr>
          <a:xfrm>
            <a:off x="914400" y="41148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Ubicación:  core/tokenlab.py  →  Reuso en clases 3, 5, 14-16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457200" y="4754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AI Engineer  |  Código Facilito  |  Clase 2</a:t>
            </a:r>
            <a:endParaRPr lang="en-US" sz="800" dirty="0"/>
          </a:p>
        </p:txBody>
      </p:sp>
      <p:sp>
        <p:nvSpPr>
          <p:cNvPr id="25" name="Text 18"/>
          <p:cNvSpPr/>
          <p:nvPr/>
        </p:nvSpPr>
        <p:spPr>
          <a:xfrm>
            <a:off x="8229600" y="47548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32004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1097280"/>
            <a:ext cx="7680960" cy="3474720"/>
          </a:xfrm>
          <a:prstGeom prst="roundRect">
            <a:avLst>
              <a:gd name="adj" fmla="val 2632"/>
            </a:avLst>
          </a:prstGeom>
          <a:solidFill>
            <a:srgbClr val="0A0825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core/tokenlab.py (fragmento)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97280" y="1508760"/>
            <a:ext cx="7132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time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core.llm_client </a:t>
            </a:r>
            <a:pPr indent="0" marL="0">
              <a:buNone/>
            </a:pPr>
            <a:r>
              <a:rPr lang="en-US" sz="1000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get_model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000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measure_request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(prompt: str):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 = get_model()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t0 = time.perf_counter()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= model.generate_content(prompt)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t1 = time.perf_counter()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3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input_tok = response.usage_metadata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3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.prompt_token_count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3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output_tok = response.usage_metadata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3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.candidates_token_count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"latency":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t1 - t0,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"input_tokens":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input_tok,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"output_tokens":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output_tok,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754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AI Engineer  |  Código Facilito  |  Clase 2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47548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Práctico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3200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Tienes 25 minutos. Completa tokenlab.py y experimenta.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31520" y="1508760"/>
            <a:ext cx="7680960" cy="658368"/>
          </a:xfrm>
          <a:prstGeom prst="roundRect">
            <a:avLst>
              <a:gd name="adj" fmla="val 8333"/>
            </a:avLst>
          </a:prstGeom>
          <a:solidFill>
            <a:srgbClr val="1A1745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71600" y="15270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Contar tokens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7160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 count_tokens() usando model.count_tokens() de Gemini.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315200" y="16002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min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31520" y="2286000"/>
            <a:ext cx="7680960" cy="658368"/>
          </a:xfrm>
          <a:prstGeom prst="roundRect">
            <a:avLst>
              <a:gd name="adj" fmla="val 8333"/>
            </a:avLst>
          </a:prstGeom>
          <a:solidFill>
            <a:srgbClr val="1A1745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371600" y="23042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idiomas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371600" y="2606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tokens de la misma oración en español e inglés. ¿Cuál gasta más?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315200" y="23774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min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31520" y="3063240"/>
            <a:ext cx="7680960" cy="658368"/>
          </a:xfrm>
          <a:prstGeom prst="roundRect">
            <a:avLst>
              <a:gd name="adj" fmla="val 8333"/>
            </a:avLst>
          </a:prstGeom>
          <a:solidFill>
            <a:srgbClr val="1A1745"/>
          </a:solidFill>
          <a:ln/>
        </p:spPr>
      </p:sp>
      <p:sp>
        <p:nvSpPr>
          <p:cNvPr id="17" name="Text 14"/>
          <p:cNvSpPr/>
          <p:nvPr/>
        </p:nvSpPr>
        <p:spPr>
          <a:xfrm>
            <a:off x="86868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371600" y="30815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latencia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371600" y="3383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Envía 3 prompts de diferente tamaño. Registra latencia total. ¿Hay correlación?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315200" y="31546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min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31520" y="3840480"/>
            <a:ext cx="7680960" cy="658368"/>
          </a:xfrm>
          <a:prstGeom prst="roundRect">
            <a:avLst>
              <a:gd name="adj" fmla="val 8333"/>
            </a:avLst>
          </a:prstGeom>
          <a:solidFill>
            <a:srgbClr val="1A1745"/>
          </a:solidFill>
          <a:ln/>
        </p:spPr>
      </p:sp>
      <p:sp>
        <p:nvSpPr>
          <p:cNvPr id="22" name="Text 19"/>
          <p:cNvSpPr/>
          <p:nvPr/>
        </p:nvSpPr>
        <p:spPr>
          <a:xfrm>
            <a:off x="86868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371600" y="38587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check (bonus)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37160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función que valide si un request excede el budget de tokens del feature.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315200" y="39319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min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57200" y="4754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AI Engineer  |  Código Facilito  |  Clase 2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8229600" y="47548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D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 Hoy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32004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1261872"/>
            <a:ext cx="54864" cy="36576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1188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son la moneda: input + output = costo + latencia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1520" y="1810512"/>
            <a:ext cx="54864" cy="365760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17373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de contexto: úsala inteligentemente, no la llenes por llenar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" y="2359152"/>
            <a:ext cx="54864" cy="36576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22860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costo escala linealmente con usuarios. Sin budget = desastre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31520" y="2907792"/>
            <a:ext cx="54864" cy="365760"/>
          </a:xfrm>
          <a:prstGeom prst="rect">
            <a:avLst/>
          </a:prstGeom>
          <a:solidFill>
            <a:srgbClr val="FF4081"/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" y="2834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TTFT importa más que latencia total (percepción del usuario)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31520" y="3456432"/>
            <a:ext cx="54864" cy="36576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14" name="Text 11"/>
          <p:cNvSpPr/>
          <p:nvPr/>
        </p:nvSpPr>
        <p:spPr>
          <a:xfrm>
            <a:off x="1005840" y="33832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max_output_tokens + temperature = tus controles principales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31520" y="4005072"/>
            <a:ext cx="54864" cy="36576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6" name="Text 13"/>
          <p:cNvSpPr/>
          <p:nvPr/>
        </p:nvSpPr>
        <p:spPr>
          <a:xfrm>
            <a:off x="1005840" y="39319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todo. tokenlab.py es tu herramienta a partir de hoy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31520" y="3931920"/>
            <a:ext cx="7680960" cy="731520"/>
          </a:xfrm>
          <a:prstGeom prst="roundRect">
            <a:avLst>
              <a:gd name="adj" fmla="val 10000"/>
            </a:avLst>
          </a:prstGeom>
          <a:solidFill>
            <a:srgbClr val="1A1745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411480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463040" y="39319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clase:  </a:t>
            </a:r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3 — Prompt Engineering para Sistemas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1463040" y="42976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Templates, few-shot, chaining y prompts evaluables (no vibes).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57200" y="4754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AI Engineer  |  Código Facilito  |  Clase 2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8229600" y="47548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AI Engineer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2 Completada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0B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vemos en la Clase 3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3474720"/>
            <a:ext cx="457200" cy="45720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474720"/>
            <a:ext cx="457200" cy="45720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3474720"/>
            <a:ext cx="457200" cy="45720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474720"/>
            <a:ext cx="457200" cy="457200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3474720"/>
            <a:ext cx="457200" cy="4572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Ramsés Camas  ·  Director del Bootcamp  ·  Código Facilito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2 - Tokens, Contexto, Costo y Latencia</dc:title>
  <dc:subject>PptxGenJS Presentation</dc:subject>
  <dc:creator>Ramsés Camas</dc:creator>
  <cp:lastModifiedBy>Ramsés Camas</cp:lastModifiedBy>
  <cp:revision>1</cp:revision>
  <dcterms:created xsi:type="dcterms:W3CDTF">2026-02-11T20:34:41Z</dcterms:created>
  <dcterms:modified xsi:type="dcterms:W3CDTF">2026-02-11T20:34:41Z</dcterms:modified>
</cp:coreProperties>
</file>